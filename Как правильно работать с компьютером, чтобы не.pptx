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  <a:endParaRPr lang="en-US" dirty="0"/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ru-RU"/>
              <a:t>Образец текста</a:t>
            </a:r>
            <a:endParaRPr lang="ru-RU"/>
          </a:p>
          <a:p>
            <a:pPr marL="228600" lvl="1" indent="-228600"/>
            <a:r>
              <a:rPr lang="ru-RU"/>
              <a:t>Второй уровень</a:t>
            </a:r>
            <a:endParaRPr lang="ru-RU"/>
          </a:p>
          <a:p>
            <a:pPr marL="228600" lvl="2" indent="-228600"/>
            <a:r>
              <a:rPr lang="ru-RU"/>
              <a:t>Третий уровень</a:t>
            </a:r>
            <a:endParaRPr lang="ru-RU"/>
          </a:p>
          <a:p>
            <a:pPr marL="228600" lvl="3" indent="-228600"/>
            <a:r>
              <a:rPr lang="ru-RU"/>
              <a:t>Четвертый уровень</a:t>
            </a:r>
            <a:endParaRPr lang="ru-RU"/>
          </a:p>
          <a:p>
            <a:pPr marL="228600" lvl="4" indent="-228600"/>
            <a:r>
              <a:rPr lang="ru-RU"/>
              <a:t>Пятый уровень</a:t>
            </a:r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ru-RU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  <a:endParaRPr 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465" indent="-164465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Content Placeholder 3"/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8" Type="http://schemas.openxmlformats.org/officeDocument/2006/relationships/theme" Target="../theme/theme1.xml"/><Relationship Id="rId27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DA3E30A9-0ED9-45C0-B9D7-B8D6C3680B8D}" type="datetimeFigureOut">
              <a:rPr lang="ru-RU" smtClean="0"/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27D2030A-DAEF-468E-AF92-F9FE6A282FA2}" type="slidenum">
              <a:rPr lang="ru-RU" smtClean="0"/>
            </a:fld>
            <a:endParaRPr lang="ru-RU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1.jpeg"/><Relationship Id="rId1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295258" y="688258"/>
            <a:ext cx="4864355" cy="3894416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0070C0"/>
                </a:solidFill>
              </a:rPr>
              <a:t>Как правильно </a:t>
            </a:r>
            <a:r>
              <a:rPr lang="ru-RU" dirty="0"/>
              <a:t>работать с компьютером, чтобы не уставать.</a:t>
            </a: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6295258" y="4198374"/>
            <a:ext cx="4319734" cy="1573161"/>
          </a:xfrm>
        </p:spPr>
        <p:txBody>
          <a:bodyPr/>
          <a:lstStyle/>
          <a:p>
            <a:r>
              <a:rPr lang="ru-RU" dirty="0"/>
              <a:t>Подготовил: Студент группы 1961с</a:t>
            </a:r>
            <a:endParaRPr lang="ru-RU" dirty="0"/>
          </a:p>
          <a:p>
            <a:r>
              <a:rPr lang="ru-RU" dirty="0"/>
              <a:t>Чепкасов Игорь Иванович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3397" y="379043"/>
            <a:ext cx="9942409" cy="876193"/>
          </a:xfrm>
        </p:spPr>
        <p:txBody>
          <a:bodyPr>
            <a:normAutofit/>
          </a:bodyPr>
          <a:lstStyle/>
          <a:p>
            <a:r>
              <a:rPr lang="ru-RU" sz="5400" dirty="0">
                <a:solidFill>
                  <a:srgbClr val="0070C0"/>
                </a:solidFill>
              </a:rPr>
              <a:t>Цель и задачи</a:t>
            </a:r>
            <a:endParaRPr lang="ru-RU" sz="5400" dirty="0">
              <a:solidFill>
                <a:srgbClr val="0070C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3397" y="1127373"/>
            <a:ext cx="11125202" cy="803788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ru-RU" sz="3600" dirty="0">
                <a:solidFill>
                  <a:srgbClr val="0070C0"/>
                </a:solidFill>
              </a:rPr>
              <a:t>Цель</a:t>
            </a:r>
            <a:endParaRPr lang="ru-RU" sz="3600" dirty="0">
              <a:solidFill>
                <a:srgbClr val="0070C0"/>
              </a:solidFill>
            </a:endParaRPr>
          </a:p>
        </p:txBody>
      </p:sp>
      <p:sp>
        <p:nvSpPr>
          <p:cNvPr id="4" name="Объект 2"/>
          <p:cNvSpPr txBox="1"/>
          <p:nvPr/>
        </p:nvSpPr>
        <p:spPr>
          <a:xfrm>
            <a:off x="533397" y="2990588"/>
            <a:ext cx="11125202" cy="621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ru-RU" sz="3600" dirty="0">
                <a:solidFill>
                  <a:srgbClr val="0070C0"/>
                </a:solidFill>
              </a:rPr>
              <a:t>Задачи</a:t>
            </a:r>
            <a:endParaRPr lang="ru-RU" sz="3600" dirty="0">
              <a:solidFill>
                <a:srgbClr val="0070C0"/>
              </a:solidFill>
            </a:endParaRPr>
          </a:p>
        </p:txBody>
      </p:sp>
      <p:sp>
        <p:nvSpPr>
          <p:cNvPr id="10" name="Объект 2"/>
          <p:cNvSpPr txBox="1"/>
          <p:nvPr/>
        </p:nvSpPr>
        <p:spPr>
          <a:xfrm>
            <a:off x="533397" y="1931161"/>
            <a:ext cx="11125202" cy="8761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400" dirty="0"/>
              <a:t>Сохранить здоровье, самочувствие и высокую работоспособность при ежедневной работе за компьютером</a:t>
            </a:r>
            <a:endParaRPr lang="ru-RU" sz="2400" dirty="0"/>
          </a:p>
        </p:txBody>
      </p:sp>
      <p:sp>
        <p:nvSpPr>
          <p:cNvPr id="12" name="Объект 2"/>
          <p:cNvSpPr txBox="1"/>
          <p:nvPr/>
        </p:nvSpPr>
        <p:spPr>
          <a:xfrm>
            <a:off x="533397" y="3794376"/>
            <a:ext cx="11125202" cy="242365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Грамотно организовать рабочие пространство.</a:t>
            </a:r>
            <a:endParaRPr lang="ru-RU" sz="2400" dirty="0"/>
          </a:p>
          <a:p>
            <a:r>
              <a:rPr lang="ru-RU" sz="2400" dirty="0"/>
              <a:t>Следить за осанкой и правильным положение рук.</a:t>
            </a:r>
            <a:endParaRPr lang="ru-RU" sz="2400" dirty="0"/>
          </a:p>
          <a:p>
            <a:r>
              <a:rPr lang="ru-RU" sz="2400" dirty="0"/>
              <a:t>Защитить зрение и снизить нагрузку на глаза.</a:t>
            </a:r>
            <a:endParaRPr lang="ru-RU" sz="2400" dirty="0"/>
          </a:p>
          <a:p>
            <a:r>
              <a:rPr lang="ru-RU" sz="2400" dirty="0"/>
              <a:t>Внедрить регулярные паузы и режим отдыха.</a:t>
            </a:r>
            <a:endParaRPr lang="ru-RU" sz="2400" dirty="0"/>
          </a:p>
          <a:p>
            <a:r>
              <a:rPr lang="ru-RU" sz="2400" dirty="0"/>
              <a:t>Выполнять простую физическую разминку в течение дня</a:t>
            </a:r>
            <a:endParaRPr lang="ru-RU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>
            <a:spLocks noGrp="1"/>
          </p:cNvSpPr>
          <p:nvPr>
            <p:ph type="title"/>
          </p:nvPr>
        </p:nvSpPr>
        <p:spPr>
          <a:xfrm>
            <a:off x="420791" y="381000"/>
            <a:ext cx="9942409" cy="876193"/>
          </a:xfrm>
          <a:prstGeom prst="rect">
            <a:avLst/>
          </a:prstGeom>
          <a:noFill/>
        </p:spPr>
        <p:txBody>
          <a:bodyPr wrap="non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85000"/>
              </a:lnSpc>
              <a:buNone/>
            </a:pPr>
            <a:r>
              <a:rPr lang="en-US" sz="5400" kern="100" spc="-53" dirty="0">
                <a:solidFill>
                  <a:srgbClr val="0070C0"/>
                </a:solidFill>
                <a:latin typeface="+mj-lt"/>
                <a:ea typeface="Arimo" pitchFamily="34" charset="-122"/>
                <a:cs typeface="Arimo" pitchFamily="34" charset="0"/>
              </a:rPr>
              <a:t>Организация рабочего места</a:t>
            </a:r>
            <a:endParaRPr lang="en-US" sz="5400" dirty="0">
              <a:solidFill>
                <a:srgbClr val="0070C0"/>
              </a:solidFill>
              <a:latin typeface="+mj-lt"/>
            </a:endParaRPr>
          </a:p>
        </p:txBody>
      </p:sp>
      <p:sp>
        <p:nvSpPr>
          <p:cNvPr id="7" name="Text 1"/>
          <p:cNvSpPr>
            <a:spLocks noGrp="1"/>
          </p:cNvSpPr>
          <p:nvPr>
            <p:ph idx="1"/>
          </p:nvPr>
        </p:nvSpPr>
        <p:spPr>
          <a:xfrm>
            <a:off x="7511847" y="1257193"/>
            <a:ext cx="4117258" cy="472852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20000"/>
              </a:lnSpc>
              <a:buNone/>
            </a:pPr>
            <a:r>
              <a:rPr lang="en-US" sz="2400" kern="100" spc="-22" dirty="0">
                <a:solidFill>
                  <a:schemeClr val="tx2"/>
                </a:solidFill>
                <a:ea typeface="Arimo" pitchFamily="34" charset="-122"/>
                <a:cs typeface="Arimo" pitchFamily="34" charset="0"/>
              </a:rPr>
              <a:t>• Монитор: верхняя граница экрана на уровне глаз, расстояние 50–70 см.</a:t>
            </a:r>
            <a:endParaRPr lang="en-US" sz="2400" dirty="0">
              <a:solidFill>
                <a:schemeClr val="tx2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2400" kern="100" spc="-22" dirty="0">
                <a:solidFill>
                  <a:schemeClr val="tx2"/>
                </a:solidFill>
                <a:ea typeface="Arimo" pitchFamily="34" charset="-122"/>
                <a:cs typeface="Arimo" pitchFamily="34" charset="0"/>
              </a:rPr>
              <a:t>• Стул: надежная поддержка поясницы, регулируемая высота.</a:t>
            </a:r>
            <a:endParaRPr lang="en-US" sz="2400" dirty="0">
              <a:solidFill>
                <a:schemeClr val="tx2"/>
              </a:solidFill>
            </a:endParaRPr>
          </a:p>
          <a:p>
            <a:pPr marL="0" indent="0" algn="l">
              <a:lnSpc>
                <a:spcPct val="120000"/>
              </a:lnSpc>
              <a:buNone/>
            </a:pPr>
            <a:r>
              <a:rPr lang="en-US" sz="2400" kern="100" spc="-22" dirty="0">
                <a:solidFill>
                  <a:schemeClr val="tx2"/>
                </a:solidFill>
                <a:ea typeface="Arimo" pitchFamily="34" charset="-122"/>
                <a:cs typeface="Arimo" pitchFamily="34" charset="0"/>
              </a:rPr>
              <a:t>• Стол и ноги: стопы полностью стоят на полу или подставке, колени согнуты под углом 90°.</a:t>
            </a:r>
            <a:endParaRPr lang="en-US" sz="2400" dirty="0">
              <a:solidFill>
                <a:schemeClr val="tx2"/>
              </a:solidFill>
            </a:endParaRPr>
          </a:p>
        </p:txBody>
      </p:sp>
      <p:pic>
        <p:nvPicPr>
          <p:cNvPr id="6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895" y="1257193"/>
            <a:ext cx="6147638" cy="467756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9417" y="419100"/>
            <a:ext cx="9942409" cy="876193"/>
          </a:xfrm>
        </p:spPr>
        <p:txBody>
          <a:bodyPr>
            <a:normAutofit fontScale="90000"/>
          </a:bodyPr>
          <a:lstStyle/>
          <a:p>
            <a:r>
              <a:rPr lang="en-US" sz="6000" kern="100" spc="-53" dirty="0">
                <a:solidFill>
                  <a:schemeClr val="accent2">
                    <a:lumMod val="60000"/>
                    <a:lumOff val="40000"/>
                  </a:schemeClr>
                </a:solidFill>
                <a:ea typeface="Arimo" pitchFamily="34" charset="-122"/>
                <a:cs typeface="Arimo" pitchFamily="34" charset="0"/>
              </a:rPr>
              <a:t>Осанка</a:t>
            </a:r>
            <a:r>
              <a:rPr lang="en-US" sz="6000" kern="100" spc="-53" dirty="0">
                <a:solidFill>
                  <a:srgbClr val="BA71D0"/>
                </a:solidFill>
                <a:ea typeface="Arimo" pitchFamily="34" charset="-122"/>
                <a:cs typeface="Arimo" pitchFamily="34" charset="0"/>
              </a:rPr>
              <a:t> и </a:t>
            </a:r>
            <a:r>
              <a:rPr lang="en-US" sz="6000" kern="100" spc="-53" dirty="0">
                <a:solidFill>
                  <a:schemeClr val="accent2">
                    <a:lumMod val="60000"/>
                    <a:lumOff val="40000"/>
                  </a:schemeClr>
                </a:solidFill>
                <a:ea typeface="Arimo" pitchFamily="34" charset="-122"/>
                <a:cs typeface="Arimo" pitchFamily="34" charset="0"/>
              </a:rPr>
              <a:t>положение</a:t>
            </a:r>
            <a:r>
              <a:rPr lang="en-US" sz="6000" kern="100" spc="-53" dirty="0">
                <a:solidFill>
                  <a:srgbClr val="BA71D0"/>
                </a:solidFill>
                <a:ea typeface="Arimo" pitchFamily="34" charset="-122"/>
                <a:cs typeface="Arimo" pitchFamily="34" charset="0"/>
              </a:rPr>
              <a:t> </a:t>
            </a:r>
            <a:r>
              <a:rPr lang="en-US" sz="6000" kern="100" spc="-53" dirty="0">
                <a:solidFill>
                  <a:schemeClr val="accent2">
                    <a:lumMod val="60000"/>
                    <a:lumOff val="40000"/>
                  </a:schemeClr>
                </a:solidFill>
                <a:ea typeface="Arimo" pitchFamily="34" charset="-122"/>
                <a:cs typeface="Arimo" pitchFamily="34" charset="0"/>
              </a:rPr>
              <a:t>рук</a:t>
            </a:r>
            <a:br>
              <a:rPr lang="en-US" sz="3200" dirty="0"/>
            </a:br>
            <a:endParaRPr lang="ru-RU" dirty="0"/>
          </a:p>
        </p:txBody>
      </p:sp>
      <p:sp>
        <p:nvSpPr>
          <p:cNvPr id="5" name="Text 1"/>
          <p:cNvSpPr/>
          <p:nvPr/>
        </p:nvSpPr>
        <p:spPr>
          <a:xfrm>
            <a:off x="429417" y="1295292"/>
            <a:ext cx="4231073" cy="521731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Спина: прямая, плечи расслаблены и опущены, без сутулости.</a:t>
            </a:r>
            <a:endParaRPr lang="en-US" sz="24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Руки и локти: угол сгибания в локтях около 90°, предплечья лежат на столе или подлокотниках.</a:t>
            </a:r>
            <a:endParaRPr lang="en-US" sz="24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Кисти и запястья: нейтральное прямое положение, без заломов и сильного упора в ребро стола.</a:t>
            </a:r>
            <a:endParaRPr lang="en-US" sz="2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5421" y="1295293"/>
            <a:ext cx="5217188" cy="52173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40456" y="415420"/>
            <a:ext cx="9942409" cy="876193"/>
          </a:xfrm>
        </p:spPr>
        <p:txBody>
          <a:bodyPr>
            <a:normAutofit fontScale="90000"/>
          </a:bodyPr>
          <a:lstStyle/>
          <a:p>
            <a:r>
              <a:rPr lang="en-US" sz="6000" kern="100" spc="-53" dirty="0">
                <a:solidFill>
                  <a:srgbClr val="BA71D0"/>
                </a:solidFill>
                <a:ea typeface="Arimo" pitchFamily="34" charset="-122"/>
                <a:cs typeface="Arimo" pitchFamily="34" charset="0"/>
              </a:rPr>
              <a:t>Здоровье глаз</a:t>
            </a:r>
            <a:br>
              <a:rPr lang="en-US" sz="3200" dirty="0"/>
            </a:br>
            <a:endParaRPr lang="ru-RU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781" y="1524099"/>
            <a:ext cx="6147638" cy="46775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6484" y="1524099"/>
            <a:ext cx="3942735" cy="40515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Правило 20-20-20: каждые 20 минут — взгляд вдаль (6 метров) на 20 секунд.</a:t>
            </a:r>
            <a:endParaRPr lang="en-US" sz="24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Освещение: без бликов; комфортная яркость монитора под свет комнаты.</a:t>
            </a:r>
            <a:endParaRPr lang="en-US" sz="24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Моргание: чаще моргайте, чтобы предотвратить синдром сухого глаза.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9417" y="419100"/>
            <a:ext cx="9942409" cy="876193"/>
          </a:xfrm>
        </p:spPr>
        <p:txBody>
          <a:bodyPr>
            <a:normAutofit fontScale="90000"/>
          </a:bodyPr>
          <a:lstStyle/>
          <a:p>
            <a:r>
              <a:rPr lang="en-US" sz="6000" kern="100" spc="-53" dirty="0">
                <a:solidFill>
                  <a:srgbClr val="BA71D0"/>
                </a:solidFill>
                <a:latin typeface="+mn-lt"/>
                <a:ea typeface="Arimo" pitchFamily="34" charset="-122"/>
                <a:cs typeface="Arimo" pitchFamily="34" charset="0"/>
              </a:rPr>
              <a:t>Режим работы и перерывы</a:t>
            </a:r>
            <a:br>
              <a:rPr lang="en-US" sz="3200" dirty="0"/>
            </a:br>
            <a:endParaRPr lang="ru-RU" dirty="0"/>
          </a:p>
        </p:txBody>
      </p:sp>
      <p:sp>
        <p:nvSpPr>
          <p:cNvPr id="6" name="Text 1"/>
          <p:cNvSpPr/>
          <p:nvPr/>
        </p:nvSpPr>
        <p:spPr>
          <a:xfrm>
            <a:off x="429417" y="1295293"/>
            <a:ext cx="4006651" cy="43886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Ритм пауз: делайте короткий перерыв на 5–10 минут каждые 45–60 минут непрерывной работы.</a:t>
            </a:r>
            <a:endParaRPr lang="en-US" sz="24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Смена позы: встаньте из-за стола, пройдитесь по комнате, сделайте легкую разминку.</a:t>
            </a:r>
            <a:endParaRPr lang="en-US" sz="24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Водный баланс: держите рядом стакан чистой воды и регулярно делайте несколько глотков.</a:t>
            </a:r>
            <a:endParaRPr lang="en-US" sz="2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0" y="1295293"/>
            <a:ext cx="5217188" cy="521731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1127" y="356426"/>
            <a:ext cx="9942409" cy="876193"/>
          </a:xfrm>
        </p:spPr>
        <p:txBody>
          <a:bodyPr>
            <a:normAutofit fontScale="90000"/>
          </a:bodyPr>
          <a:lstStyle/>
          <a:p>
            <a:r>
              <a:rPr lang="en-US" sz="6000" kern="100" spc="-53" dirty="0">
                <a:solidFill>
                  <a:srgbClr val="BA71D0"/>
                </a:solidFill>
                <a:ea typeface="Arimo" pitchFamily="34" charset="-122"/>
                <a:cs typeface="Arimo" pitchFamily="34" charset="0"/>
              </a:rPr>
              <a:t>Простая разминка</a:t>
            </a:r>
            <a:br>
              <a:rPr lang="en-US" sz="3200" dirty="0"/>
            </a:br>
            <a:endParaRPr lang="ru-RU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781" y="1523901"/>
            <a:ext cx="6147539" cy="4677569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7791564" y="1629470"/>
            <a:ext cx="3371666" cy="4572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Шея: плавные наклоны головы в стороны и вперед-назад.</a:t>
            </a:r>
            <a:endParaRPr lang="en-US" sz="24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Плечи: круговые вращения плечами назад и сведение лопаток.</a:t>
            </a:r>
            <a:endParaRPr lang="en-US" sz="24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Кисти: вращение запястьями и легкая растяжка пальцев.</a:t>
            </a:r>
            <a:endParaRPr lang="en-US" sz="24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Спина: мягкие потягивания вверх и плавные скручивания корпуса.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9417" y="419100"/>
            <a:ext cx="9942409" cy="876193"/>
          </a:xfrm>
        </p:spPr>
        <p:txBody>
          <a:bodyPr>
            <a:normAutofit fontScale="90000"/>
          </a:bodyPr>
          <a:lstStyle/>
          <a:p>
            <a:r>
              <a:rPr lang="en-US" sz="6000" kern="100" spc="-53" dirty="0">
                <a:solidFill>
                  <a:srgbClr val="0070C0"/>
                </a:solidFill>
                <a:latin typeface="+mn-lt"/>
                <a:ea typeface="Arimo" pitchFamily="34" charset="-122"/>
                <a:cs typeface="Arimo" pitchFamily="34" charset="0"/>
              </a:rPr>
              <a:t>Заклю</a:t>
            </a:r>
            <a:r>
              <a:rPr lang="en-US" sz="6000" kern="100" spc="-53" dirty="0">
                <a:solidFill>
                  <a:srgbClr val="BA71D0"/>
                </a:solidFill>
                <a:latin typeface="+mn-lt"/>
                <a:ea typeface="Arimo" pitchFamily="34" charset="-122"/>
                <a:cs typeface="Arimo" pitchFamily="34" charset="0"/>
              </a:rPr>
              <a:t>чение</a:t>
            </a:r>
            <a:br>
              <a:rPr lang="en-US" sz="3200" dirty="0"/>
            </a:br>
            <a:endParaRPr lang="ru-RU" dirty="0"/>
          </a:p>
        </p:txBody>
      </p:sp>
      <p:sp>
        <p:nvSpPr>
          <p:cNvPr id="6" name="Text 1"/>
          <p:cNvSpPr/>
          <p:nvPr/>
        </p:nvSpPr>
        <p:spPr>
          <a:xfrm>
            <a:off x="520588" y="1391841"/>
            <a:ext cx="11156770" cy="292576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Эргономика решает: правильная настройка кресла, стола и экрана снимает львиную долю ежедневного напряжения.</a:t>
            </a:r>
            <a:endParaRPr lang="en-US" sz="24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Регулярность важнее интенсивности: короткие паузы каждый час дают гораздо больше пользы, чем один долгий отдых в конце дня.</a:t>
            </a:r>
            <a:endParaRPr lang="en-US" sz="24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2400" kern="100" spc="-22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• Забота о себе — это привычка: комфортное рабочее место и простые упражнения сохраняют продуктивность и здоровье на долгие годы.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0"/>
          <p:cNvSpPr>
            <a:spLocks noGrp="1"/>
          </p:cNvSpPr>
          <p:nvPr>
            <p:ph type="title"/>
          </p:nvPr>
        </p:nvSpPr>
        <p:spPr>
          <a:xfrm>
            <a:off x="446301" y="601800"/>
            <a:ext cx="9942409" cy="876193"/>
          </a:xfrm>
          <a:prstGeom prst="rect">
            <a:avLst/>
          </a:prstGeom>
          <a:noFill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5400" kern="100" spc="-53" dirty="0">
                <a:solidFill>
                  <a:srgbClr val="BA71D0"/>
                </a:solidFill>
                <a:ea typeface="Arimo" pitchFamily="34" charset="-122"/>
                <a:cs typeface="Arimo" pitchFamily="34" charset="0"/>
              </a:rPr>
              <a:t>Берегите себя</a:t>
            </a:r>
            <a:endParaRPr lang="en-US" sz="5400" dirty="0"/>
          </a:p>
        </p:txBody>
      </p:sp>
      <p:sp>
        <p:nvSpPr>
          <p:cNvPr id="7" name="Text 1"/>
          <p:cNvSpPr/>
          <p:nvPr/>
        </p:nvSpPr>
        <p:spPr>
          <a:xfrm>
            <a:off x="520687" y="2052141"/>
            <a:ext cx="9793638" cy="51196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00" kern="100" spc="-31" dirty="0">
                <a:solidFill>
                  <a:srgbClr val="0070C0"/>
                </a:solidFill>
                <a:ea typeface="Arimo" pitchFamily="34" charset="-122"/>
                <a:cs typeface="Arimo" pitchFamily="34" charset="0"/>
              </a:rPr>
              <a:t>Пауза</a:t>
            </a:r>
            <a:r>
              <a:rPr lang="en-US" sz="2800" kern="100" spc="-31" dirty="0">
                <a:solidFill>
                  <a:srgbClr val="BA71D0"/>
                </a:solidFill>
                <a:ea typeface="Arimo" pitchFamily="34" charset="-122"/>
                <a:cs typeface="Arimo" pitchFamily="34" charset="0"/>
              </a:rPr>
              <a:t>: </a:t>
            </a:r>
            <a:r>
              <a:rPr lang="en-US" sz="2800" kern="100" spc="-31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вставайте и двигайтесь каждые 45–60 минут</a:t>
            </a:r>
            <a:endParaRPr lang="en-US" sz="2800" dirty="0"/>
          </a:p>
        </p:txBody>
      </p:sp>
      <p:sp>
        <p:nvSpPr>
          <p:cNvPr id="9" name="Text 2"/>
          <p:cNvSpPr/>
          <p:nvPr/>
        </p:nvSpPr>
        <p:spPr>
          <a:xfrm>
            <a:off x="520687" y="3138258"/>
            <a:ext cx="9793638" cy="51196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00" kern="100" spc="-31" dirty="0">
                <a:solidFill>
                  <a:srgbClr val="BA71D0"/>
                </a:solidFill>
                <a:ea typeface="Arimo" pitchFamily="34" charset="-122"/>
                <a:cs typeface="Arimo" pitchFamily="34" charset="0"/>
              </a:rPr>
              <a:t>Вз</a:t>
            </a:r>
            <a:r>
              <a:rPr lang="en-US" sz="2800" kern="100" spc="-31" dirty="0">
                <a:solidFill>
                  <a:srgbClr val="0070C0"/>
                </a:solidFill>
                <a:ea typeface="Arimo" pitchFamily="34" charset="-122"/>
                <a:cs typeface="Arimo" pitchFamily="34" charset="0"/>
              </a:rPr>
              <a:t>гляд</a:t>
            </a:r>
            <a:r>
              <a:rPr lang="en-US" sz="2800" kern="100" spc="-31" dirty="0">
                <a:solidFill>
                  <a:srgbClr val="BA71D0"/>
                </a:solidFill>
                <a:ea typeface="Arimo" pitchFamily="34" charset="-122"/>
                <a:cs typeface="Arimo" pitchFamily="34" charset="0"/>
              </a:rPr>
              <a:t>: </a:t>
            </a:r>
            <a:r>
              <a:rPr lang="en-US" sz="2800" kern="100" spc="-31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давайте глазам отдых по правилу 20-20-20</a:t>
            </a:r>
            <a:endParaRPr lang="en-US" sz="2800" dirty="0"/>
          </a:p>
        </p:txBody>
      </p:sp>
      <p:sp>
        <p:nvSpPr>
          <p:cNvPr id="11" name="Text 3"/>
          <p:cNvSpPr/>
          <p:nvPr/>
        </p:nvSpPr>
        <p:spPr>
          <a:xfrm>
            <a:off x="569562" y="4224375"/>
            <a:ext cx="9793638" cy="511969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800" kern="100" spc="-31" dirty="0">
                <a:solidFill>
                  <a:srgbClr val="BA71D0"/>
                </a:solidFill>
                <a:ea typeface="Arimo" pitchFamily="34" charset="-122"/>
                <a:cs typeface="Arimo" pitchFamily="34" charset="0"/>
              </a:rPr>
              <a:t>Поза: </a:t>
            </a:r>
            <a:r>
              <a:rPr lang="en-US" sz="2800" kern="100" spc="-31" dirty="0">
                <a:solidFill>
                  <a:srgbClr val="FFFFFF"/>
                </a:solidFill>
                <a:ea typeface="Arimo" pitchFamily="34" charset="-122"/>
                <a:cs typeface="Arimo" pitchFamily="34" charset="0"/>
              </a:rPr>
              <a:t>сидите удобно, держите спину и запястья нейтрально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9416" y="419100"/>
            <a:ext cx="9942409" cy="876193"/>
          </a:xfrm>
        </p:spPr>
        <p:txBody>
          <a:bodyPr>
            <a:normAutofit/>
          </a:bodyPr>
          <a:lstStyle/>
          <a:p>
            <a:r>
              <a:rPr lang="ru-RU" sz="5400" dirty="0">
                <a:solidFill>
                  <a:srgbClr val="0070C0"/>
                </a:solidFill>
              </a:rPr>
              <a:t>Контактные данные</a:t>
            </a:r>
            <a:endParaRPr lang="ru-RU" sz="5400" dirty="0">
              <a:solidFill>
                <a:srgbClr val="0070C0"/>
              </a:solidFill>
            </a:endParaRPr>
          </a:p>
        </p:txBody>
      </p:sp>
      <p:sp>
        <p:nvSpPr>
          <p:cNvPr id="5" name="Объект 2"/>
          <p:cNvSpPr txBox="1"/>
          <p:nvPr/>
        </p:nvSpPr>
        <p:spPr>
          <a:xfrm>
            <a:off x="533398" y="1763714"/>
            <a:ext cx="11125201" cy="12847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US" sz="2400" dirty="0">
                <a:solidFill>
                  <a:srgbClr val="0070C0"/>
                </a:solidFill>
              </a:rPr>
              <a:t>VK</a:t>
            </a:r>
            <a:r>
              <a:rPr lang="ru-RU" sz="2400" dirty="0"/>
              <a:t>:</a:t>
            </a:r>
            <a:r>
              <a:rPr lang="en-US" sz="2400" dirty="0">
                <a:solidFill>
                  <a:schemeClr val="tx1"/>
                </a:solidFill>
              </a:rPr>
              <a:t>https</a:t>
            </a:r>
            <a:r>
              <a:rPr lang="ru-RU" sz="2400" dirty="0">
                <a:solidFill>
                  <a:schemeClr val="tx1"/>
                </a:solidFill>
              </a:rPr>
              <a:t>:</a:t>
            </a:r>
            <a:r>
              <a:rPr lang="en-US" sz="2400" dirty="0">
                <a:solidFill>
                  <a:schemeClr val="tx1"/>
                </a:solidFill>
              </a:rPr>
              <a:t>//vk.ru/id822737467</a:t>
            </a:r>
            <a:endParaRPr lang="ru-RU" sz="2400" dirty="0">
              <a:solidFill>
                <a:schemeClr val="tx1"/>
              </a:solidFill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7129" y="1295293"/>
            <a:ext cx="1578077" cy="1578077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7129" y="3185652"/>
            <a:ext cx="1587053" cy="1587053"/>
          </a:xfrm>
          <a:prstGeom prst="rect">
            <a:avLst/>
          </a:prstGeom>
        </p:spPr>
      </p:pic>
      <p:sp>
        <p:nvSpPr>
          <p:cNvPr id="3" name="Текстовое поле 2"/>
          <p:cNvSpPr txBox="1"/>
          <p:nvPr/>
        </p:nvSpPr>
        <p:spPr>
          <a:xfrm>
            <a:off x="533400" y="3517265"/>
            <a:ext cx="6096000" cy="11988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ru-RU" sz="2400">
                <a:solidFill>
                  <a:srgbClr val="0070C0"/>
                </a:solidFill>
              </a:rPr>
              <a:t>MAX</a:t>
            </a:r>
            <a:r>
              <a:rPr lang="ru-RU" altLang="ru-RU" sz="2400"/>
              <a:t>:</a:t>
            </a:r>
            <a:r>
              <a:rPr lang="en-US" altLang="ru-RU" sz="2400"/>
              <a:t>https://max.ru/u/f9LHodD0cOJSlbCWUnoIv73VXtbUMgwlrVS6fzca2Upx-TI4W-59NZUR-QM</a:t>
            </a:r>
            <a:endParaRPr lang="en-US" altLang="ru-RU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Запись фильма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0</TotalTime>
  <Words>2397</Words>
  <Application>WPS Presentation</Application>
  <PresentationFormat>Широкоэкранный</PresentationFormat>
  <Paragraphs>70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SimSun</vt:lpstr>
      <vt:lpstr>Wingdings</vt:lpstr>
      <vt:lpstr>Arimo</vt:lpstr>
      <vt:lpstr>Arimo</vt:lpstr>
      <vt:lpstr>Neue Haas Grotesk Text Pro</vt:lpstr>
      <vt:lpstr>Segoe Print</vt:lpstr>
      <vt:lpstr>Microsoft YaHei</vt:lpstr>
      <vt:lpstr>Arial Unicode MS</vt:lpstr>
      <vt:lpstr>Calibri</vt:lpstr>
      <vt:lpstr>Запись фильма</vt:lpstr>
      <vt:lpstr>Как правильно работать с компьютером, чтобы не уставать. </vt:lpstr>
      <vt:lpstr>Цель и задачи</vt:lpstr>
      <vt:lpstr>Организация рабочего места</vt:lpstr>
      <vt:lpstr>Осанка и положение рук </vt:lpstr>
      <vt:lpstr>Здоровье глаз </vt:lpstr>
      <vt:lpstr>Режим работы и перерывы </vt:lpstr>
      <vt:lpstr>Простая разминка </vt:lpstr>
      <vt:lpstr>Заключение </vt:lpstr>
      <vt:lpstr>Берегите себя</vt:lpstr>
      <vt:lpstr>Контактные данные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Чепкасов Игорь Иванович</dc:creator>
  <cp:lastModifiedBy>igorc</cp:lastModifiedBy>
  <cp:revision>4</cp:revision>
  <dcterms:created xsi:type="dcterms:W3CDTF">2026-10-27T05:34:00Z</dcterms:created>
  <dcterms:modified xsi:type="dcterms:W3CDTF">2026-10-31T08:39:04Z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1049-12.1.0.28485</vt:lpwstr>
  </property>
  <property fmtid="{D5CDD505-2E9C-101B-9397-08002B2CF9AE}" pid="3" name="ICV">
    <vt:lpwstr>2898F74C76E44E4A8715FDA6DF539419_13</vt:lpwstr>
  </property>
</Properties>
</file>