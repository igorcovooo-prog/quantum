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866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5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07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9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4036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9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0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3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8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7262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0152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986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284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73662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195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81122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09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844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65574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534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1023371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94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3513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3280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567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082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1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DA3E30A9-0ED9-45C0-B9D7-B8D6C3680B8D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7D2030A-DAEF-468E-AF92-F9FE6A282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13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  <p:sldLayoutId id="2147483910" r:id="rId18"/>
    <p:sldLayoutId id="2147483911" r:id="rId19"/>
    <p:sldLayoutId id="2147483912" r:id="rId20"/>
    <p:sldLayoutId id="2147483913" r:id="rId21"/>
    <p:sldLayoutId id="2147483914" r:id="rId22"/>
    <p:sldLayoutId id="2147483915" r:id="rId23"/>
    <p:sldLayoutId id="2147483916" r:id="rId24"/>
    <p:sldLayoutId id="2147483917" r:id="rId25"/>
    <p:sldLayoutId id="2147483918" r:id="rId26"/>
    <p:sldLayoutId id="2147483919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94873-4839-E134-6081-0ADDA7C9C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8" y="688258"/>
            <a:ext cx="4864355" cy="389441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Как правильно </a:t>
            </a:r>
            <a:r>
              <a:rPr lang="ru-RU" dirty="0"/>
              <a:t>работать с компьютером, чтобы не уставать.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727277-3561-3BFE-E51A-D7B709CA6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58" y="4198374"/>
            <a:ext cx="4319734" cy="1573161"/>
          </a:xfrm>
        </p:spPr>
        <p:txBody>
          <a:bodyPr/>
          <a:lstStyle/>
          <a:p>
            <a:r>
              <a:rPr lang="ru-RU" dirty="0"/>
              <a:t>Подготовил: Студент группы 1961с</a:t>
            </a:r>
          </a:p>
          <a:p>
            <a:r>
              <a:rPr lang="ru-RU" dirty="0"/>
              <a:t>Чепкасов Игорь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7296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5D7E3-CE29-D1ED-3BA7-E641A832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7" y="379043"/>
            <a:ext cx="9942409" cy="87619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rgbClr val="0070C0"/>
                </a:solidFill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2209FC-2424-BD8B-AA38-3F6495674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127373"/>
            <a:ext cx="11125202" cy="80378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3600" dirty="0">
                <a:solidFill>
                  <a:srgbClr val="0070C0"/>
                </a:solidFill>
              </a:rPr>
              <a:t>Цель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098F363-C693-F4FE-0C9F-25957A2D9BC1}"/>
              </a:ext>
            </a:extLst>
          </p:cNvPr>
          <p:cNvSpPr txBox="1">
            <a:spLocks/>
          </p:cNvSpPr>
          <p:nvPr/>
        </p:nvSpPr>
        <p:spPr>
          <a:xfrm>
            <a:off x="533397" y="2990588"/>
            <a:ext cx="11125202" cy="62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3600" dirty="0">
                <a:solidFill>
                  <a:srgbClr val="0070C0"/>
                </a:solidFill>
              </a:rPr>
              <a:t>Задачи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10E9F91-6B1B-846B-7A46-483693A03A47}"/>
              </a:ext>
            </a:extLst>
          </p:cNvPr>
          <p:cNvSpPr txBox="1">
            <a:spLocks/>
          </p:cNvSpPr>
          <p:nvPr/>
        </p:nvSpPr>
        <p:spPr>
          <a:xfrm>
            <a:off x="533397" y="1931161"/>
            <a:ext cx="11125202" cy="8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Сохранить здоровье, самочувствие и высокую работоспособность при ежедневной работе за компьютером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8E7680D1-489E-9604-8502-3C4B3D319185}"/>
              </a:ext>
            </a:extLst>
          </p:cNvPr>
          <p:cNvSpPr txBox="1">
            <a:spLocks/>
          </p:cNvSpPr>
          <p:nvPr/>
        </p:nvSpPr>
        <p:spPr>
          <a:xfrm>
            <a:off x="533397" y="3794376"/>
            <a:ext cx="11125202" cy="24236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Грамотно организовать рабочие пространство.</a:t>
            </a:r>
          </a:p>
          <a:p>
            <a:r>
              <a:rPr lang="ru-RU" sz="2400" dirty="0"/>
              <a:t>Следить за осанкой и правильным положение рук.</a:t>
            </a:r>
          </a:p>
          <a:p>
            <a:r>
              <a:rPr lang="ru-RU" sz="2400" dirty="0"/>
              <a:t>Защитить зрение и снизить нагрузку на глаза.</a:t>
            </a:r>
          </a:p>
          <a:p>
            <a:r>
              <a:rPr lang="ru-RU" sz="2400" dirty="0"/>
              <a:t>Внедрить регулярные паузы и режим отдыха.</a:t>
            </a:r>
          </a:p>
          <a:p>
            <a:r>
              <a:rPr lang="ru-RU" sz="2400" dirty="0"/>
              <a:t>Выполнять простую физическую разминку в течение дня</a:t>
            </a:r>
          </a:p>
        </p:txBody>
      </p:sp>
    </p:spTree>
    <p:extLst>
      <p:ext uri="{BB962C8B-B14F-4D97-AF65-F5344CB8AC3E}">
        <p14:creationId xmlns:p14="http://schemas.microsoft.com/office/powerpoint/2010/main" val="381281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8928185-EAA2-8AA8-0A85-1F8FB56E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381000"/>
            <a:ext cx="9942409" cy="876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53" dirty="0">
                <a:solidFill>
                  <a:srgbClr val="0070C0"/>
                </a:solidFill>
                <a:latin typeface="+mj-lt"/>
                <a:ea typeface="Arimo" pitchFamily="34" charset="-122"/>
                <a:cs typeface="Arimo" pitchFamily="34" charset="0"/>
              </a:rPr>
              <a:t>Организация рабочего места</a:t>
            </a:r>
            <a:endParaRPr lang="en-US" sz="5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0513387-96D1-2E91-BE71-DD54EB38B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847" y="1257193"/>
            <a:ext cx="4117258" cy="47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chemeClr val="tx2"/>
                </a:solidFill>
                <a:ea typeface="Arimo" pitchFamily="34" charset="-122"/>
                <a:cs typeface="Arimo" pitchFamily="34" charset="0"/>
              </a:rPr>
              <a:t>• Монитор: верхняя граница экрана на уровне глаз, расстояние 50–70 см.</a:t>
            </a:r>
            <a:endParaRPr lang="en-US" sz="2400" dirty="0">
              <a:solidFill>
                <a:schemeClr val="tx2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chemeClr val="tx2"/>
                </a:solidFill>
                <a:ea typeface="Arimo" pitchFamily="34" charset="-122"/>
                <a:cs typeface="Arimo" pitchFamily="34" charset="0"/>
              </a:rPr>
              <a:t>• Стул: надежная поддержка поясницы, регулируемая высота.</a:t>
            </a:r>
            <a:endParaRPr lang="en-US" sz="2400" dirty="0">
              <a:solidFill>
                <a:schemeClr val="tx2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chemeClr val="tx2"/>
                </a:solidFill>
                <a:ea typeface="Arimo" pitchFamily="34" charset="-122"/>
                <a:cs typeface="Arimo" pitchFamily="34" charset="0"/>
              </a:rPr>
              <a:t>• Стол и ноги: стопы полностью стоят на полу или подставке, колени согнуты под углом 90°.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BBA6EEA3-EBF2-D740-C4B7-97162242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95" y="1257193"/>
            <a:ext cx="6147638" cy="467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23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D62E1-74E3-FB16-1393-4D876207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419100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US" sz="6000" kern="100" spc="-53" dirty="0">
                <a:solidFill>
                  <a:schemeClr val="accent2">
                    <a:lumMod val="60000"/>
                    <a:lumOff val="40000"/>
                  </a:schemeClr>
                </a:solidFill>
                <a:ea typeface="Arimo" pitchFamily="34" charset="-122"/>
                <a:cs typeface="Arimo" pitchFamily="34" charset="0"/>
              </a:rPr>
              <a:t>Осанка</a:t>
            </a:r>
            <a:r>
              <a:rPr lang="en-US" sz="6000" kern="100" spc="-53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 и </a:t>
            </a:r>
            <a:r>
              <a:rPr lang="en-US" sz="6000" kern="100" spc="-53" dirty="0">
                <a:solidFill>
                  <a:schemeClr val="accent2">
                    <a:lumMod val="60000"/>
                    <a:lumOff val="40000"/>
                  </a:schemeClr>
                </a:solidFill>
                <a:ea typeface="Arimo" pitchFamily="34" charset="-122"/>
                <a:cs typeface="Arimo" pitchFamily="34" charset="0"/>
              </a:rPr>
              <a:t>положение</a:t>
            </a:r>
            <a:r>
              <a:rPr lang="en-US" sz="6000" kern="100" spc="-53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 </a:t>
            </a:r>
            <a:r>
              <a:rPr lang="en-US" sz="6000" kern="100" spc="-53" dirty="0">
                <a:solidFill>
                  <a:schemeClr val="accent2">
                    <a:lumMod val="60000"/>
                    <a:lumOff val="40000"/>
                  </a:schemeClr>
                </a:solidFill>
                <a:ea typeface="Arimo" pitchFamily="34" charset="-122"/>
                <a:cs typeface="Arimo" pitchFamily="34" charset="0"/>
              </a:rPr>
              <a:t>рук</a:t>
            </a:r>
            <a:br>
              <a:rPr lang="en-US" sz="3200" dirty="0"/>
            </a:br>
            <a:endParaRPr lang="ru-RU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208C015-B964-C181-6902-D1BB64B19423}"/>
              </a:ext>
            </a:extLst>
          </p:cNvPr>
          <p:cNvSpPr/>
          <p:nvPr/>
        </p:nvSpPr>
        <p:spPr>
          <a:xfrm>
            <a:off x="429417" y="1295292"/>
            <a:ext cx="4231073" cy="5217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Спина: прямая, плечи расслаблены и опущены, без сутулости.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Руки и локти: угол сгибания в локтях около 90°, предплечья лежат на столе или подлокотниках.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Кисти и запястья: нейтральное прямое положение, без заломов и сильного упора в ребро стола.</a:t>
            </a:r>
            <a:endParaRPr lang="en-US" sz="24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FECCF14-6BDB-7435-EAF6-2603ABCBE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21" y="1295293"/>
            <a:ext cx="5217188" cy="52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0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135A1-E9BD-1768-FE1A-CD1770FF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56" y="415420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US" sz="6000" kern="100" spc="-53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Здоровье глаз</a:t>
            </a:r>
            <a:br>
              <a:rPr lang="en-US" sz="3200" dirty="0"/>
            </a:br>
            <a:endParaRPr lang="ru-RU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FEE0466-20C6-0A33-39EA-13CB887E3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1" y="1524099"/>
            <a:ext cx="6147638" cy="4677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FEFB9B-F261-1429-ABAC-3975F1C644EA}"/>
              </a:ext>
            </a:extLst>
          </p:cNvPr>
          <p:cNvSpPr txBox="1"/>
          <p:nvPr/>
        </p:nvSpPr>
        <p:spPr>
          <a:xfrm>
            <a:off x="7626484" y="1524099"/>
            <a:ext cx="3942735" cy="4051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Правило 20-20-20: каждые 20 минут — взгляд вдаль (6 метров) на 20 секунд.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Освещение: без бликов; комфортная яркость монитора под свет комнаты.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Моргание: чаще моргайте, чтобы предотвратить синдром сухого глаза.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01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35391-BF1E-BAFD-A4AA-CA8D1805D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419100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US" sz="6000" kern="100" spc="-53" dirty="0">
                <a:solidFill>
                  <a:srgbClr val="BA71D0"/>
                </a:solidFill>
                <a:latin typeface="+mn-lt"/>
                <a:ea typeface="Arimo" pitchFamily="34" charset="-122"/>
                <a:cs typeface="Arimo" pitchFamily="34" charset="0"/>
              </a:rPr>
              <a:t>Режим работы и перерывы</a:t>
            </a:r>
            <a:br>
              <a:rPr lang="en-US" sz="3200" dirty="0"/>
            </a:br>
            <a:endParaRPr lang="ru-RU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0DE7B37-D539-7606-9901-7BCC753F999A}"/>
              </a:ext>
            </a:extLst>
          </p:cNvPr>
          <p:cNvSpPr/>
          <p:nvPr/>
        </p:nvSpPr>
        <p:spPr>
          <a:xfrm>
            <a:off x="429417" y="1295293"/>
            <a:ext cx="4006651" cy="438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Ритм пауз: делайте короткий перерыв на 5–10 минут каждые 45–60 минут непрерывной работы.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Смена позы: встаньте из-за стола, пройдитесь по комнате, сделайте легкую разминку.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Водный баланс: держите рядом стакан чистой воды и регулярно делайте несколько глотков.</a:t>
            </a:r>
            <a:endParaRPr lang="en-US" sz="24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CEC9BA6C-963F-3ADA-1683-557DC3D7D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95293"/>
            <a:ext cx="5217188" cy="52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5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3EBBD-C03E-03BD-6CD9-B46D7D67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27" y="356426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US" sz="6000" kern="100" spc="-53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Простая разминка</a:t>
            </a:r>
            <a:br>
              <a:rPr lang="en-US" sz="3200" dirty="0"/>
            </a:br>
            <a:endParaRPr lang="ru-RU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48955F4-C28D-27AE-5385-7335BB22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1" y="1523901"/>
            <a:ext cx="6147539" cy="4677569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99A6BE3-3F96-ADC9-548E-6C686F8EEFD9}"/>
              </a:ext>
            </a:extLst>
          </p:cNvPr>
          <p:cNvSpPr/>
          <p:nvPr/>
        </p:nvSpPr>
        <p:spPr>
          <a:xfrm>
            <a:off x="7791564" y="1629470"/>
            <a:ext cx="337166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Шея: плавные наклоны головы в стороны и вперед-назад.</a:t>
            </a:r>
            <a:endParaRPr lang="en-US" sz="2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Плечи: круговые вращения плечами назад и сведение лопаток.</a:t>
            </a:r>
            <a:endParaRPr lang="en-US" sz="2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Кисти: вращение запястьями и легкая растяжка пальцев.</a:t>
            </a:r>
            <a:endParaRPr lang="en-US" sz="2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Спина: мягкие потягивания вверх и плавные скручивания корпуса.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663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A0689-6440-7CA6-B288-C6DFD9381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419100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n-US" sz="6000" kern="100" spc="-53" dirty="0">
                <a:solidFill>
                  <a:srgbClr val="BA71D0"/>
                </a:solidFill>
                <a:latin typeface="+mn-lt"/>
                <a:ea typeface="Arimo" pitchFamily="34" charset="-122"/>
                <a:cs typeface="Arimo" pitchFamily="34" charset="0"/>
              </a:rPr>
              <a:t>Заключение</a:t>
            </a:r>
            <a:br>
              <a:rPr lang="en-US" sz="3200" dirty="0"/>
            </a:br>
            <a:endParaRPr lang="ru-RU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EE51D8C-FC18-7091-D52D-AC9935EEB813}"/>
              </a:ext>
            </a:extLst>
          </p:cNvPr>
          <p:cNvSpPr/>
          <p:nvPr/>
        </p:nvSpPr>
        <p:spPr>
          <a:xfrm>
            <a:off x="520588" y="1391841"/>
            <a:ext cx="11156770" cy="292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Эргономика решает: правильная настройка кресла, стола и экрана снимает львиную долю ежедневного напряжения.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Регулярность важнее интенсивности: короткие паузы каждый час дают гораздо больше пользы, чем один долгий отдых в конце дня.</a:t>
            </a:r>
            <a:endParaRPr lang="en-US" sz="2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400" kern="100" spc="-22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• Забота о себе — это привычка: комфортное рабочее место и простые упражнения сохраняют продуктивность и здоровье на долгие годы.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8238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8E33785-2626-C184-FBE7-A052748F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01" y="601800"/>
            <a:ext cx="9942409" cy="876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53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Берегите себя</a:t>
            </a:r>
            <a:endParaRPr lang="en-US" sz="5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FFA2796-8772-2024-40F1-603D2590A361}"/>
              </a:ext>
            </a:extLst>
          </p:cNvPr>
          <p:cNvSpPr/>
          <p:nvPr/>
        </p:nvSpPr>
        <p:spPr>
          <a:xfrm>
            <a:off x="520687" y="2052141"/>
            <a:ext cx="979363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kern="100" spc="-31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Пауза: </a:t>
            </a:r>
            <a:r>
              <a:rPr lang="en-US" sz="2800" kern="100" spc="-31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вставайте и двигайтесь каждые 45–60 минут</a:t>
            </a:r>
            <a:endParaRPr lang="en-US" sz="2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A748244-EC3D-EB41-FBE0-12A4BFB9C803}"/>
              </a:ext>
            </a:extLst>
          </p:cNvPr>
          <p:cNvSpPr/>
          <p:nvPr/>
        </p:nvSpPr>
        <p:spPr>
          <a:xfrm>
            <a:off x="520687" y="3138258"/>
            <a:ext cx="979363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kern="100" spc="-31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Взгляд: </a:t>
            </a:r>
            <a:r>
              <a:rPr lang="en-US" sz="2800" kern="100" spc="-31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давайте глазам отдых по правилу 20-20-20</a:t>
            </a:r>
            <a:endParaRPr lang="en-US" sz="2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CCB31E6-27B3-D125-561C-75891A4B0E1A}"/>
              </a:ext>
            </a:extLst>
          </p:cNvPr>
          <p:cNvSpPr/>
          <p:nvPr/>
        </p:nvSpPr>
        <p:spPr>
          <a:xfrm>
            <a:off x="569562" y="4224375"/>
            <a:ext cx="979363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kern="100" spc="-31" dirty="0">
                <a:solidFill>
                  <a:srgbClr val="BA71D0"/>
                </a:solidFill>
                <a:ea typeface="Arimo" pitchFamily="34" charset="-122"/>
                <a:cs typeface="Arimo" pitchFamily="34" charset="0"/>
              </a:rPr>
              <a:t>Поза: </a:t>
            </a:r>
            <a:r>
              <a:rPr lang="en-US" sz="2800" kern="100" spc="-31" dirty="0">
                <a:solidFill>
                  <a:srgbClr val="FFFFFF"/>
                </a:solidFill>
                <a:ea typeface="Arimo" pitchFamily="34" charset="-122"/>
                <a:cs typeface="Arimo" pitchFamily="34" charset="0"/>
              </a:rPr>
              <a:t>сидите удобно, держите спину и запястья нейтрально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955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14A37-F276-3096-7DAF-EA8CE013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rgbClr val="0070C0"/>
                </a:solidFill>
              </a:rPr>
              <a:t>Контактные данные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7578980-20FB-76D3-B72D-11423847B18D}"/>
              </a:ext>
            </a:extLst>
          </p:cNvPr>
          <p:cNvSpPr txBox="1">
            <a:spLocks/>
          </p:cNvSpPr>
          <p:nvPr/>
        </p:nvSpPr>
        <p:spPr>
          <a:xfrm>
            <a:off x="533398" y="1763714"/>
            <a:ext cx="11125201" cy="1284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solidFill>
                  <a:srgbClr val="0070C0"/>
                </a:solidFill>
              </a:rPr>
              <a:t>VK</a:t>
            </a:r>
            <a:r>
              <a:rPr lang="ru-RU" sz="2400" dirty="0"/>
              <a:t>: </a:t>
            </a:r>
            <a:r>
              <a:rPr lang="en-US" sz="2400" dirty="0">
                <a:solidFill>
                  <a:schemeClr val="tx1"/>
                </a:solidFill>
              </a:rPr>
              <a:t>https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  <a:r>
              <a:rPr lang="en-US" sz="2400" dirty="0">
                <a:solidFill>
                  <a:schemeClr val="tx1"/>
                </a:solidFill>
              </a:rPr>
              <a:t>//vk.ru/id822737467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68A80A-5820-BEA3-E9BB-C7262D531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129" y="1295293"/>
            <a:ext cx="1578077" cy="157807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6183B09-0696-40D7-510B-25EF2B879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129" y="3185652"/>
            <a:ext cx="1587053" cy="158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2647"/>
      </p:ext>
    </p:extLst>
  </p:cSld>
  <p:clrMapOvr>
    <a:masterClrMapping/>
  </p:clrMapOvr>
</p:sld>
</file>

<file path=ppt/theme/theme1.xml><?xml version="1.0" encoding="utf-8"?>
<a:theme xmlns:a="http://schemas.openxmlformats.org/drawingml/2006/main" name="Запись фильма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69</TotalTime>
  <Words>419</Words>
  <Application>Microsoft Office PowerPoint</Application>
  <PresentationFormat>Широкоэкранный</PresentationFormat>
  <Paragraphs>43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Arimo</vt:lpstr>
      <vt:lpstr>Arial</vt:lpstr>
      <vt:lpstr>Neue Haas Grotesk Text Pro</vt:lpstr>
      <vt:lpstr>Wingdings</vt:lpstr>
      <vt:lpstr>Запись фильма</vt:lpstr>
      <vt:lpstr>Как правильно работать с компьютером, чтобы не уставать. </vt:lpstr>
      <vt:lpstr>Цель и задачи</vt:lpstr>
      <vt:lpstr>Организация рабочего места</vt:lpstr>
      <vt:lpstr>Осанка и положение рук </vt:lpstr>
      <vt:lpstr>Здоровье глаз </vt:lpstr>
      <vt:lpstr>Режим работы и перерывы </vt:lpstr>
      <vt:lpstr>Простая разминка </vt:lpstr>
      <vt:lpstr>Заключение </vt:lpstr>
      <vt:lpstr>Берегите себя</vt:lpstr>
      <vt:lpstr>Контактные данные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Чепкасов Игорь Иванович</dc:creator>
  <cp:lastModifiedBy>Чепкасов Игорь Иванович</cp:lastModifiedBy>
  <cp:revision>2</cp:revision>
  <dcterms:created xsi:type="dcterms:W3CDTF">2026-10-27T05:34:25Z</dcterms:created>
  <dcterms:modified xsi:type="dcterms:W3CDTF">2026-10-27T06:43:29Z</dcterms:modified>
</cp:coreProperties>
</file>